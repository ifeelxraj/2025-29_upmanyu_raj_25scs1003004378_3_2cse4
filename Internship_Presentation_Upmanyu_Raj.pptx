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61520" cy="6858000"/>
  <p:notesSz cx="6858000" cy="1216152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50292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IILM UNIVERSITY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57200" y="82296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GREATER NOIDA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402336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Summer Internship Presentation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4343400"/>
            <a:ext cx="34747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 &amp; Data Science</a:t>
            </a:r>
            <a:endParaRPr lang="en-US" sz="26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Internship at XYlofy AI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663440" y="1005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 NAME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7360920" y="1005840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Upmanyu Raj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663440" y="1389888"/>
            <a:ext cx="7040880" cy="0"/>
          </a:xfrm>
          <a:prstGeom prst="line">
            <a:avLst/>
          </a:prstGeom>
          <a:noFill/>
          <a:ln w="12700">
            <a:solidFill>
              <a:srgbClr val="D5DEE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663440" y="157276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 NUMBER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7360920" y="1572768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25SCS1003004378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663440" y="1956816"/>
            <a:ext cx="7040880" cy="0"/>
          </a:xfrm>
          <a:prstGeom prst="line">
            <a:avLst/>
          </a:prstGeom>
          <a:noFill/>
          <a:ln w="12700">
            <a:solidFill>
              <a:srgbClr val="D5DEE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2139696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 &amp; SEMESTER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7360920" y="2139696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B.Tech CSE (AI &amp; ML) — Semester 3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663440" y="2523744"/>
            <a:ext cx="7040880" cy="0"/>
          </a:xfrm>
          <a:prstGeom prst="line">
            <a:avLst/>
          </a:prstGeom>
          <a:noFill/>
          <a:ln w="12700">
            <a:solidFill>
              <a:srgbClr val="D5DEE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663440" y="2706624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BATCH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7360920" y="2706624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2025–2029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663440" y="3090672"/>
            <a:ext cx="7040880" cy="0"/>
          </a:xfrm>
          <a:prstGeom prst="line">
            <a:avLst/>
          </a:prstGeom>
          <a:noFill/>
          <a:ln w="12700">
            <a:solidFill>
              <a:srgbClr val="D5DEE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663440" y="32735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ORGANIZATION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7360920" y="3273552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XYlofy AI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663440" y="3657600"/>
            <a:ext cx="7040880" cy="0"/>
          </a:xfrm>
          <a:prstGeom prst="line">
            <a:avLst/>
          </a:prstGeom>
          <a:noFill/>
          <a:ln w="12700">
            <a:solidFill>
              <a:srgbClr val="D5DEE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663440" y="38404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DURATION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7360920" y="3840480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Jun 2026 – 15 Jul 2026 (4 Weeks)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4663440" y="4224528"/>
            <a:ext cx="7040880" cy="0"/>
          </a:xfrm>
          <a:prstGeom prst="line">
            <a:avLst/>
          </a:prstGeom>
          <a:noFill/>
          <a:ln w="12700">
            <a:solidFill>
              <a:srgbClr val="D5DEEC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Internship Overview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0515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4-week AI &amp; Data Science Virtual Internship at XYlofy AI (15 June – 15 July 2026), focused on applying the complete data-science workflow — from data cleaning and exploratory analysis, to model building and evaluation, to communicating insights through visual reports and a live dashboard.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205740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EAF1FB"/>
          </a:solidFill>
          <a:ln/>
          <a:effectLst>
            <a:outerShdw sx="100000" sy="100000" kx="0" ky="0" algn="bl" rotWithShape="0" blurRad="76200" dist="25400" dir="5400000">
              <a:srgbClr val="1B2A4A">
                <a:alpha val="1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31520" y="2203704"/>
            <a:ext cx="3154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1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1–2 · REGRESSION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2468880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House Price Prediction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31520" y="2926080"/>
            <a:ext cx="3154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EDA, correlation analysis, and a regression model to predict house prices and identify the most influential features.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343400" y="205740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EAF1FB"/>
          </a:solidFill>
          <a:ln/>
          <a:effectLst>
            <a:outerShdw sx="100000" sy="100000" kx="0" ky="0" algn="bl" rotWithShape="0" blurRad="76200" dist="25400" dir="5400000">
              <a:srgbClr val="1B2A4A">
                <a:alpha val="1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526280" y="2203704"/>
            <a:ext cx="3154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1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3–4 · FORECASTING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526280" y="2468880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Sales Forecasting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526280" y="2926080"/>
            <a:ext cx="3154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SARIMA / Prophet / XGBoost models forecasting monthly retail sales, evaluated on a held-out test period.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8138160" y="205740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EAF1FB"/>
          </a:solidFill>
          <a:ln/>
          <a:effectLst>
            <a:outerShdw sx="100000" sy="100000" kx="0" ky="0" algn="bl" rotWithShape="0" blurRad="76200" dist="25400" dir="5400000">
              <a:srgbClr val="1B2A4A">
                <a:alpha val="1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8321040" y="2203704"/>
            <a:ext cx="3154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1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4 · APPLICATION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8321040" y="2468880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Demand Intelligence Dashboard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321040" y="2926080"/>
            <a:ext cx="3154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Anomaly detection, K-Means demand segmentation, and a live Streamlit dashboard tying it together.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548640" y="41605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thread across all tasks: data cleaning  →  exploratory analysis  →  feature preparation  →  model training  →  evaluation.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548640" y="47091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WEEK-WISE PLAN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548640" y="5074920"/>
            <a:ext cx="2628900" cy="960120"/>
          </a:xfrm>
          <a:prstGeom prst="roundRect">
            <a:avLst>
              <a:gd name="adj" fmla="val 5714"/>
            </a:avLst>
          </a:prstGeom>
          <a:solidFill>
            <a:srgbClr val="EAF1FB"/>
          </a:solidFill>
          <a:ln/>
        </p:spPr>
      </p:sp>
      <p:sp>
        <p:nvSpPr>
          <p:cNvPr id="19" name="Text 17"/>
          <p:cNvSpPr/>
          <p:nvPr/>
        </p:nvSpPr>
        <p:spPr>
          <a:xfrm>
            <a:off x="685800" y="5166360"/>
            <a:ext cx="23545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W1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85800" y="5486400"/>
            <a:ext cx="23545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&amp; Data Foundations + EDA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3360420" y="5074920"/>
            <a:ext cx="2628900" cy="960120"/>
          </a:xfrm>
          <a:prstGeom prst="roundRect">
            <a:avLst>
              <a:gd name="adj" fmla="val 5714"/>
            </a:avLst>
          </a:prstGeom>
          <a:solidFill>
            <a:srgbClr val="EAF1FB"/>
          </a:solidFill>
          <a:ln/>
        </p:spPr>
      </p:sp>
      <p:sp>
        <p:nvSpPr>
          <p:cNvPr id="22" name="Text 20"/>
          <p:cNvSpPr/>
          <p:nvPr/>
        </p:nvSpPr>
        <p:spPr>
          <a:xfrm>
            <a:off x="3497580" y="5166360"/>
            <a:ext cx="23545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W2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3497580" y="5486400"/>
            <a:ext cx="23545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Regression &amp; House Price Prediction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6172200" y="5074920"/>
            <a:ext cx="2628900" cy="960120"/>
          </a:xfrm>
          <a:prstGeom prst="roundRect">
            <a:avLst>
              <a:gd name="adj" fmla="val 5714"/>
            </a:avLst>
          </a:prstGeom>
          <a:solidFill>
            <a:srgbClr val="EAF1FB"/>
          </a:solidFill>
          <a:ln/>
        </p:spPr>
      </p:sp>
      <p:sp>
        <p:nvSpPr>
          <p:cNvPr id="25" name="Text 23"/>
          <p:cNvSpPr/>
          <p:nvPr/>
        </p:nvSpPr>
        <p:spPr>
          <a:xfrm>
            <a:off x="6309360" y="5166360"/>
            <a:ext cx="23545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W3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6309360" y="5486400"/>
            <a:ext cx="23545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Time-Series Forecasting Pipeline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8983980" y="5074920"/>
            <a:ext cx="2628900" cy="960120"/>
          </a:xfrm>
          <a:prstGeom prst="roundRect">
            <a:avLst>
              <a:gd name="adj" fmla="val 5714"/>
            </a:avLst>
          </a:prstGeom>
          <a:solidFill>
            <a:srgbClr val="EAF1FB"/>
          </a:solidFill>
          <a:ln/>
        </p:spPr>
      </p:sp>
      <p:sp>
        <p:nvSpPr>
          <p:cNvPr id="28" name="Text 26"/>
          <p:cNvSpPr/>
          <p:nvPr/>
        </p:nvSpPr>
        <p:spPr>
          <a:xfrm>
            <a:off x="9121140" y="5166360"/>
            <a:ext cx="23545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W4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9121140" y="5486400"/>
            <a:ext cx="23545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Anomaly Detection, Segmentation &amp; Dashboard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Upmanyu Raj  ·  25SCS1003004378  ·  3rd Semester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11430000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1  ·  REGRESSION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315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House Price Prediction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920240"/>
            <a:ext cx="6492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 house sale prices from property features (area, rooms, location-linked attributes, and other characteristics) using the Housing dataset.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28803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APPROACH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48640" y="3200400"/>
            <a:ext cx="64922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Cleaned data and handled missing values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Performed EDA to study the price distribution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a correlation heatmap across numerical features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Trained and evaluated a regression model on the target price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7406640" y="1600200"/>
            <a:ext cx="4206240" cy="4343400"/>
          </a:xfrm>
          <a:prstGeom prst="roundRect">
            <a:avLst>
              <a:gd name="adj" fmla="val 1739"/>
            </a:avLst>
          </a:prstGeom>
          <a:solidFill>
            <a:srgbClr val="EAF1FB"/>
          </a:solidFill>
          <a:ln/>
        </p:spPr>
      </p:sp>
      <p:sp>
        <p:nvSpPr>
          <p:cNvPr id="9" name="Text 7"/>
          <p:cNvSpPr/>
          <p:nvPr/>
        </p:nvSpPr>
        <p:spPr>
          <a:xfrm>
            <a:off x="7680960" y="18288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MODELS USED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680960" y="214884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Regression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Correlation-based feature selection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7680960" y="32004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680960" y="3520440"/>
            <a:ext cx="36576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Identified strongest price-correlated features via heatmap analysis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predictions closely tracked actual prices on evaluation data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Ranked feature importance to explain price drivers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7680960" y="521208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insight: property size and quality-linked features were the strongest predictors of sale price.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Upmanyu Raj  ·  25SCS1003004378  ·  3rd Semester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11430000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1  ·  RESULTS IN DETAIL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3152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House Price Prediction — Key Findings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440680" cy="2148840"/>
          </a:xfrm>
          <a:prstGeom prst="roundRect">
            <a:avLst>
              <a:gd name="adj" fmla="val 3404"/>
            </a:avLst>
          </a:prstGeom>
          <a:solidFill>
            <a:srgbClr val="EAF1FB"/>
          </a:solidFill>
          <a:ln/>
        </p:spPr>
      </p:sp>
      <p:sp>
        <p:nvSpPr>
          <p:cNvPr id="5" name="Shape 3"/>
          <p:cNvSpPr/>
          <p:nvPr/>
        </p:nvSpPr>
        <p:spPr>
          <a:xfrm>
            <a:off x="777240" y="1856232"/>
            <a:ext cx="365760" cy="54864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1984248"/>
            <a:ext cx="4983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Price Distribution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77240" y="2404872"/>
            <a:ext cx="49834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homes cluster in the mid-price range, with a long right tail of high-value properties — confirming a right-skewed housing market.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263640" y="1600200"/>
            <a:ext cx="5440680" cy="2148840"/>
          </a:xfrm>
          <a:prstGeom prst="roundRect">
            <a:avLst>
              <a:gd name="adj" fmla="val 3404"/>
            </a:avLst>
          </a:prstGeom>
          <a:solidFill>
            <a:srgbClr val="D5DEEC"/>
          </a:solidFill>
          <a:ln/>
        </p:spPr>
      </p:sp>
      <p:sp>
        <p:nvSpPr>
          <p:cNvPr id="9" name="Shape 7"/>
          <p:cNvSpPr/>
          <p:nvPr/>
        </p:nvSpPr>
        <p:spPr>
          <a:xfrm>
            <a:off x="6492240" y="1856232"/>
            <a:ext cx="365760" cy="54864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10" name="Text 8"/>
          <p:cNvSpPr/>
          <p:nvPr/>
        </p:nvSpPr>
        <p:spPr>
          <a:xfrm>
            <a:off x="6492240" y="1984248"/>
            <a:ext cx="4983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Feature Correlation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492240" y="2404872"/>
            <a:ext cx="49834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correlation heatmap surfaced the numerical features most tightly linked to sale price, guiding which variables to prioritise in the model.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48640" y="4023360"/>
            <a:ext cx="5440680" cy="2148840"/>
          </a:xfrm>
          <a:prstGeom prst="roundRect">
            <a:avLst>
              <a:gd name="adj" fmla="val 3404"/>
            </a:avLst>
          </a:prstGeom>
          <a:solidFill>
            <a:srgbClr val="EAF1FB"/>
          </a:solidFill>
          <a:ln/>
        </p:spPr>
      </p:sp>
      <p:sp>
        <p:nvSpPr>
          <p:cNvPr id="13" name="Shape 11"/>
          <p:cNvSpPr/>
          <p:nvPr/>
        </p:nvSpPr>
        <p:spPr>
          <a:xfrm>
            <a:off x="777240" y="4279392"/>
            <a:ext cx="365760" cy="54864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14" name="Text 12"/>
          <p:cNvSpPr/>
          <p:nvPr/>
        </p:nvSpPr>
        <p:spPr>
          <a:xfrm>
            <a:off x="777240" y="4407408"/>
            <a:ext cx="4983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Actual vs Predicted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777240" y="4828032"/>
            <a:ext cx="49834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Predicted prices tracked actual prices closely across the test set, validating the regression approach for this dataset.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263640" y="4023360"/>
            <a:ext cx="5440680" cy="2148840"/>
          </a:xfrm>
          <a:prstGeom prst="roundRect">
            <a:avLst>
              <a:gd name="adj" fmla="val 3404"/>
            </a:avLst>
          </a:prstGeom>
          <a:solidFill>
            <a:srgbClr val="D5DEEC"/>
          </a:solidFill>
          <a:ln/>
        </p:spPr>
      </p:sp>
      <p:sp>
        <p:nvSpPr>
          <p:cNvPr id="17" name="Shape 15"/>
          <p:cNvSpPr/>
          <p:nvPr/>
        </p:nvSpPr>
        <p:spPr>
          <a:xfrm>
            <a:off x="6492240" y="4279392"/>
            <a:ext cx="365760" cy="54864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18" name="Text 16"/>
          <p:cNvSpPr/>
          <p:nvPr/>
        </p:nvSpPr>
        <p:spPr>
          <a:xfrm>
            <a:off x="6492240" y="4407408"/>
            <a:ext cx="4983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Feature Importance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492240" y="4828032"/>
            <a:ext cx="49834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Ranking feature importance pinpointed the handful of attributes driving most of the price variation — useful for explaining the model, not just running it.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Upmanyu Raj  ·  25SCS1003004378  ·  3rd Semester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11430000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2  ·  TIME-SERIES FORECASTING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3152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26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Sales Forecasting &amp; Demand</a:t>
            </a:r>
            <a:endParaRPr lang="en-US" sz="26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26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Intelligence System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9659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2286000"/>
            <a:ext cx="6492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Forecast future monthly retail sales, flag unusual sales weeks, and group products by demand behaviour — using a real Superstore sales dataset.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32461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APPROACH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48640" y="3566160"/>
            <a:ext cx="64922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a data-cleaning and feature-engineering pipeline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Trained and compared SARIMA, Prophet, and XGBoost forecasters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Detected anomalies using Isolation Forest and Z-score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Segmented products using K-Means on demand behaviour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Deployed results through an interactive Streamlit dashboard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7406640" y="1600200"/>
            <a:ext cx="4206240" cy="4343400"/>
          </a:xfrm>
          <a:prstGeom prst="roundRect">
            <a:avLst>
              <a:gd name="adj" fmla="val 1739"/>
            </a:avLst>
          </a:prstGeom>
          <a:solidFill>
            <a:srgbClr val="EAF1FB"/>
          </a:solidFill>
          <a:ln/>
        </p:spPr>
      </p:sp>
      <p:sp>
        <p:nvSpPr>
          <p:cNvPr id="9" name="Text 7"/>
          <p:cNvSpPr/>
          <p:nvPr/>
        </p:nvSpPr>
        <p:spPr>
          <a:xfrm>
            <a:off x="7680960" y="18288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MODELS USED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680960" y="2148840"/>
            <a:ext cx="36576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SARIMA (Statsmodels)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Prophet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XGBoost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Isolation Forest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K-Means Clustering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7680960" y="3840480"/>
            <a:ext cx="3657600" cy="0"/>
          </a:xfrm>
          <a:prstGeom prst="line">
            <a:avLst/>
          </a:prstGeom>
          <a:noFill/>
          <a:ln w="12700">
            <a:solidFill>
              <a:srgbClr val="9FB0C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680960" y="40233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MODEL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7680960" y="429768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SARIMA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7680960" y="480060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Lowest MAE/RMSE on a held-out 3-month test  •  ~20% MAPE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Upmanyu Raj  ·  25SCS1003004378  ·  3rd Semester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1430000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2  ·  RESULTS IN DETAIL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3152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Sales Forecasting — Key Results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3611880" cy="1371600"/>
          </a:xfrm>
          <a:prstGeom prst="roundRect">
            <a:avLst>
              <a:gd name="adj" fmla="val 5333"/>
            </a:avLst>
          </a:prstGeom>
          <a:solidFill>
            <a:srgbClr val="1B2A4A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1856232"/>
            <a:ext cx="3154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~20%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777240" y="2560320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Forecast MAPE</a:t>
            </a:r>
            <a:endParaRPr lang="en-US" sz="10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(SARIMA, 3-month test)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434840" y="1691640"/>
            <a:ext cx="3611880" cy="1371600"/>
          </a:xfrm>
          <a:prstGeom prst="roundRect">
            <a:avLst>
              <a:gd name="adj" fmla="val 5333"/>
            </a:avLst>
          </a:prstGeom>
          <a:solidFill>
            <a:srgbClr val="1B2A4A"/>
          </a:solidFill>
          <a:ln/>
        </p:spPr>
      </p:sp>
      <p:sp>
        <p:nvSpPr>
          <p:cNvPr id="8" name="Text 6"/>
          <p:cNvSpPr/>
          <p:nvPr/>
        </p:nvSpPr>
        <p:spPr>
          <a:xfrm>
            <a:off x="4663440" y="1856232"/>
            <a:ext cx="3154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4663440" y="2560320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 segments</a:t>
            </a:r>
            <a:endParaRPr lang="en-US" sz="10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 via K-Means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8321040" y="1691640"/>
            <a:ext cx="3611880" cy="1371600"/>
          </a:xfrm>
          <a:prstGeom prst="roundRect">
            <a:avLst>
              <a:gd name="adj" fmla="val 5333"/>
            </a:avLst>
          </a:prstGeom>
          <a:solidFill>
            <a:srgbClr val="1B2A4A"/>
          </a:solidFill>
          <a:ln/>
        </p:spPr>
      </p:sp>
      <p:sp>
        <p:nvSpPr>
          <p:cNvPr id="11" name="Text 9"/>
          <p:cNvSpPr/>
          <p:nvPr/>
        </p:nvSpPr>
        <p:spPr>
          <a:xfrm>
            <a:off x="8549640" y="1856232"/>
            <a:ext cx="3154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 / 6</a:t>
            </a:r>
            <a:endParaRPr lang="en-US" sz="3400" dirty="0"/>
          </a:p>
        </p:txBody>
      </p:sp>
      <p:sp>
        <p:nvSpPr>
          <p:cNvPr id="12" name="Text 10"/>
          <p:cNvSpPr/>
          <p:nvPr/>
        </p:nvSpPr>
        <p:spPr>
          <a:xfrm>
            <a:off x="8549640" y="2560320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Anomalous weeks flagged</a:t>
            </a:r>
            <a:endParaRPr lang="en-US" sz="10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(Isolation Forest / Z-score)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548640" y="33375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ADDITIONAL FINDINGS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48640" y="3657600"/>
            <a:ext cx="110642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September, November, and December rank in the top-3 sales months across all four years of data</a:t>
            </a:r>
            <a:endParaRPr lang="en-US" sz="12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five business segments dip slightly in the next quarter; the West segment shows the least decline</a:t>
            </a:r>
            <a:endParaRPr lang="en-US" sz="12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demand segments identified: High-Volume Stable, Low-Volume Volatile, Growing, and Declining</a:t>
            </a:r>
            <a:endParaRPr lang="en-US" sz="12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live, 4-page Streamlit dashboard presents forecasts, anomalies, and segments to a business audience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Upmanyu Raj  ·  25SCS1003004378  ·  3rd Semester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1430000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Tools &amp; Technologies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600200"/>
            <a:ext cx="2651760" cy="1417320"/>
          </a:xfrm>
          <a:prstGeom prst="roundRect">
            <a:avLst>
              <a:gd name="adj" fmla="val 5161"/>
            </a:avLst>
          </a:prstGeom>
          <a:solidFill>
            <a:srgbClr val="EAF1FB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78308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LANGUAGE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731520" y="2103120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Python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429000" y="1600200"/>
            <a:ext cx="2651760" cy="1417320"/>
          </a:xfrm>
          <a:prstGeom prst="roundRect">
            <a:avLst>
              <a:gd name="adj" fmla="val 5161"/>
            </a:avLst>
          </a:prstGeom>
          <a:solidFill>
            <a:srgbClr val="EAF1FB"/>
          </a:solidFill>
          <a:ln/>
        </p:spPr>
      </p:sp>
      <p:sp>
        <p:nvSpPr>
          <p:cNvPr id="7" name="Text 5"/>
          <p:cNvSpPr/>
          <p:nvPr/>
        </p:nvSpPr>
        <p:spPr>
          <a:xfrm>
            <a:off x="3611880" y="178308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HANDLING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3611880" y="2103120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pandas, NumPy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309360" y="1600200"/>
            <a:ext cx="2651760" cy="1417320"/>
          </a:xfrm>
          <a:prstGeom prst="roundRect">
            <a:avLst>
              <a:gd name="adj" fmla="val 5161"/>
            </a:avLst>
          </a:prstGeom>
          <a:solidFill>
            <a:srgbClr val="EAF1FB"/>
          </a:solidFill>
          <a:ln/>
        </p:spPr>
      </p:sp>
      <p:sp>
        <p:nvSpPr>
          <p:cNvPr id="10" name="Text 8"/>
          <p:cNvSpPr/>
          <p:nvPr/>
        </p:nvSpPr>
        <p:spPr>
          <a:xfrm>
            <a:off x="6492240" y="178308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VISUALIZATION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92240" y="2103120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Matplotlib, Seaborn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9189720" y="1600200"/>
            <a:ext cx="2651760" cy="1417320"/>
          </a:xfrm>
          <a:prstGeom prst="roundRect">
            <a:avLst>
              <a:gd name="adj" fmla="val 5161"/>
            </a:avLst>
          </a:prstGeom>
          <a:solidFill>
            <a:srgbClr val="EAF1FB"/>
          </a:solidFill>
          <a:ln/>
        </p:spPr>
      </p:sp>
      <p:sp>
        <p:nvSpPr>
          <p:cNvPr id="13" name="Text 11"/>
          <p:cNvSpPr/>
          <p:nvPr/>
        </p:nvSpPr>
        <p:spPr>
          <a:xfrm>
            <a:off x="9372600" y="178308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MACHINE LEARNING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9372600" y="2103120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Scikit-learn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48640" y="3291840"/>
            <a:ext cx="2651760" cy="1417320"/>
          </a:xfrm>
          <a:prstGeom prst="roundRect">
            <a:avLst>
              <a:gd name="adj" fmla="val 5161"/>
            </a:avLst>
          </a:prstGeom>
          <a:solidFill>
            <a:srgbClr val="D5DEEC"/>
          </a:solidFill>
          <a:ln/>
        </p:spPr>
      </p:sp>
      <p:sp>
        <p:nvSpPr>
          <p:cNvPr id="16" name="Text 14"/>
          <p:cNvSpPr/>
          <p:nvPr/>
        </p:nvSpPr>
        <p:spPr>
          <a:xfrm>
            <a:off x="731520" y="34747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FORECASTING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731520" y="3794760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SARIMA, Prophet, XGBoost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3429000" y="3291840"/>
            <a:ext cx="2651760" cy="1417320"/>
          </a:xfrm>
          <a:prstGeom prst="roundRect">
            <a:avLst>
              <a:gd name="adj" fmla="val 5161"/>
            </a:avLst>
          </a:prstGeom>
          <a:solidFill>
            <a:srgbClr val="D5DEEC"/>
          </a:solidFill>
          <a:ln/>
        </p:spPr>
      </p:sp>
      <p:sp>
        <p:nvSpPr>
          <p:cNvPr id="19" name="Text 17"/>
          <p:cNvSpPr/>
          <p:nvPr/>
        </p:nvSpPr>
        <p:spPr>
          <a:xfrm>
            <a:off x="3611880" y="34747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3611880" y="3794760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Streamlit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6309360" y="3291840"/>
            <a:ext cx="2651760" cy="1417320"/>
          </a:xfrm>
          <a:prstGeom prst="roundRect">
            <a:avLst>
              <a:gd name="adj" fmla="val 5161"/>
            </a:avLst>
          </a:prstGeom>
          <a:solidFill>
            <a:srgbClr val="D5DEEC"/>
          </a:solidFill>
          <a:ln/>
        </p:spPr>
      </p:sp>
      <p:sp>
        <p:nvSpPr>
          <p:cNvPr id="22" name="Text 20"/>
          <p:cNvSpPr/>
          <p:nvPr/>
        </p:nvSpPr>
        <p:spPr>
          <a:xfrm>
            <a:off x="6492240" y="34747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ENVIRONMENT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6492240" y="3794760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Jupyter Notebook, Google Colab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9189720" y="3291840"/>
            <a:ext cx="2651760" cy="1417320"/>
          </a:xfrm>
          <a:prstGeom prst="roundRect">
            <a:avLst>
              <a:gd name="adj" fmla="val 5161"/>
            </a:avLst>
          </a:prstGeom>
          <a:solidFill>
            <a:srgbClr val="D5DEEC"/>
          </a:solidFill>
          <a:ln/>
        </p:spPr>
      </p:sp>
      <p:sp>
        <p:nvSpPr>
          <p:cNvPr id="25" name="Text 23"/>
          <p:cNvSpPr/>
          <p:nvPr/>
        </p:nvSpPr>
        <p:spPr>
          <a:xfrm>
            <a:off x="9372600" y="34747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 CONTROL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9372600" y="3794760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Git &amp; GitHub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Upmanyu Raj  ·  25SCS1003004378  ·  3rd Semester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11430000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 Learnings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55448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371600" y="1572768"/>
            <a:ext cx="4617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 cleaning is most of the work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371600" y="2121408"/>
            <a:ext cx="46177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Real-world datasets needed significant cleaning before any model could be trained — this consumed more time than the modelling itself.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6263640" y="155448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7086600" y="1572768"/>
            <a:ext cx="4617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EDA shapes every later decision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086600" y="2121408"/>
            <a:ext cx="46177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Exploratory analysis revealed which features mattered before model-building even started, guiding feature choices.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548640" y="393192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1371600" y="3950208"/>
            <a:ext cx="4617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Comparing models builds intuition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371600" y="4498848"/>
            <a:ext cx="46177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multiple models on the same problem (SARIMA vs. Prophet vs. XGBoost) clarified each model's strengths and trade-offs.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6263640" y="393192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7086600" y="3950208"/>
            <a:ext cx="4617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dashboard makes results usable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7086600" y="4498848"/>
            <a:ext cx="46177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Turning notebook analysis into a live Streamlit dashboard forced clearer, more decision-ready presentation of findings.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Upmanyu Raj  ·  25SCS1003004378  ·  3rd Semester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1430000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82296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Conclusion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731520" y="1554480"/>
            <a:ext cx="9601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D5D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internship provided hands-on experience with the complete data-science workflow — from raw, messy data to evaluated models to a deployed, interactive dashboard. Working across a regression problem and a multi-model forecasting system strengthened both technical skills and the judgment needed to choose the right approach for a given problem.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731520" y="3200400"/>
            <a:ext cx="1828800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342900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projects, along with complete code, notebooks, and documentation, are available on GitHub.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731520" y="521208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731520" y="58978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Upmanyu Raj  ·  25SCS1003004378  ·  B.Tech CSE (AI &amp; ML), 3rd Semester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2026-08-29T16:21:42Z</dcterms:created>
  <dcterms:modified xsi:type="dcterms:W3CDTF">2026-08-29T16:21:42Z</dcterms:modified>
</cp:coreProperties>
</file>